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9" r:id="rId3"/>
    <p:sldId id="268" r:id="rId4"/>
    <p:sldId id="269" r:id="rId5"/>
    <p:sldId id="260" r:id="rId6"/>
    <p:sldId id="261" r:id="rId7"/>
    <p:sldId id="270" r:id="rId8"/>
    <p:sldId id="262" r:id="rId9"/>
    <p:sldId id="263" r:id="rId10"/>
    <p:sldId id="264" r:id="rId11"/>
    <p:sldId id="271" r:id="rId12"/>
    <p:sldId id="272" r:id="rId13"/>
    <p:sldId id="274" r:id="rId14"/>
    <p:sldId id="273" r:id="rId15"/>
    <p:sldId id="275" r:id="rId16"/>
    <p:sldId id="265" r:id="rId17"/>
    <p:sldId id="266" r:id="rId18"/>
    <p:sldId id="26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DRL-Based Age-of-Information-Aware Cross-Layer Scheduler for Mixed-Criticality Wireless IoT Networks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16440"/>
            <a:ext cx="40233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 Kannan — 23BEC1192</a:t>
            </a:r>
            <a:endParaRPr 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Indirajeet Sudharsan — 23BEC1405</a:t>
            </a:r>
            <a:endParaRPr lang="en-US" sz="1050" dirty="0"/>
          </a:p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S — 23BEC1450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Vydeki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 (Professor)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Body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Urgent + 1 Important + 1 Routine sensor sharing one wireless channel — Round Robin treats all nodes equally (dangerous under congestion); Fixed Priority always serves Urgent first (starves the rest)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baseline reacts to real-time channel quality (RSSI) or energy cost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Information (AoI) — time since the last successfully received update — is the correct freshness objective, not raw throughput; grows linearly, resets on delivery (sawtooth)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Feedback &amp; Refinements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Body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5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clarity — scope pinned to a head-to-head comparison against 5 named baselines (Round Robin, Fixed Priority, Max-Weight, Channel-Aware Greedy, Random) under one frozen protocol, with criticality-weighted mean AoI as the single pre-registered primary statistic</a:t>
            </a:r>
            <a:endParaRPr lang="en-US" sz="1450" dirty="0"/>
          </a:p>
          <a:p>
            <a:pPr marL="177800" indent="-177800">
              <a:spcAft>
                <a:spcPts val="45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Non-synthetic data — the wireless channel model is now grounded in three real, publicly available datasets rather than a synthetic proxy heuristic (see the Dataset Used slide)</a:t>
            </a:r>
            <a:endParaRPr lang="en-US" sz="1450" dirty="0"/>
          </a:p>
          <a:p>
            <a:pPr marL="177800" indent="-177800">
              <a:spcAft>
                <a:spcPts val="45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application clarity — explicitly framed around mixed-criticality monitoring settings: hospital patient monitoring, industrial safety interlocks, smart-grid fault detection, V2X, and disaster-relief mesh networks, mirrored by the 4-node urgent/important/routine testbed</a:t>
            </a:r>
            <a:endParaRPr lang="en-US" sz="1450" dirty="0"/>
          </a:p>
          <a:p>
            <a:pPr marL="177800" indent="-177800">
              <a:spcAft>
                <a:spcPts val="45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integration — packet wire format, AoI definition, 16-D state spec, and log schema are now frozen contracts shared verbatim by the simulation, the Python analysis scripts, and the real ESP32/Pi firmware, enforced by an automated test suite plus a repo-hygiene check against duplicate implementations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Body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DQN-based scheduler that arbitrates channel access across mixed-criticality nodes, replacing hand-coded priority rules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safety with a hard-ceiling shielding layer that force-grants any node breaching its AoI limit, independent of whether the policy has learned correctly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the DQN against 5 baselines (RR, FPQ, Random, Max-Weight, Channel-Aware Greedy) inside one shared evaluation harness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sim-to-real transfer on the real 4-ESP32 + Raspberry Pi Zero 2W testbed, quantified three ways: metric gap, ranking gap (Kendall tau), transfer gap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trained network to a dependency-free NumPy inference kernel running on the Raspberry Pi gateway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LitTable"/>
          <p:cNvGraphicFramePr>
            <a:graphicFrameLocks noGrp="1"/>
          </p:cNvGraphicFramePr>
          <p:nvPr/>
        </p:nvGraphicFramePr>
        <p:xfrm>
          <a:off x="548640" y="1250000"/>
          <a:ext cx="11091672" cy="4987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000" dirty="0"/>
                    </a:p>
                  </a:txBody>
                  <a:tcPr marL="36576" marR="36576" marT="18288" marB="18288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000" dirty="0"/>
                    </a:p>
                  </a:txBody>
                  <a:tcPr marL="36576" marR="36576" marT="18288" marB="18288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000" dirty="0"/>
                    </a:p>
                  </a:txBody>
                  <a:tcPr marL="36576" marR="36576" marT="18288" marB="18288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000" dirty="0"/>
                    </a:p>
                  </a:txBody>
                  <a:tcPr marL="36576" marR="36576" marT="18288" marB="18288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000" dirty="0"/>
                    </a:p>
                  </a:txBody>
                  <a:tcPr marL="36576" marR="36576" marT="18288" marB="18288" anchor="ctr"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Yates et al., 2021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Information: An Introduction and Survey (IEEE JSAC)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unifying AoI queueing theory and RL-based scheduling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freshness metric adopted here; most work is analytical, rarely hardware-validated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Saurav &amp; Vaze, 2023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Energy Minimization Under a Peak AoI Constraint (IEEE JSAIT)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online policy meeting a hard peak-AoI threshold while minimizing energy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Competitive-ratio bounds behind this project's shielding layer; single node, no contention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Kadota et al., 2018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Policies for Minimizing AoI in Broadcast Wireless Networks (IEEE/ACM ToN)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 formulation; Max-Weight &amp; Drift-Plus-Penalty policies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project's Max-Weight baseline; needs known channel stats, no criticality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Ceran, Gunduz &amp; Gyorgy, 2021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Approach to AoI in Multi-User Networks with HARQ (IEEE JSAC)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RL/DQN scheduling under HARQ, no channel model assumed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model-free RL matches model-based policies; simulation-only, single class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al., 2025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AoI Scheduling With NOMA via Deep RL (IEEE Trans. Mob. Comput.)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multi-agent DRL balancing AoI efficiency and fairness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DRL scales to multi-objective AoI scheduling; NOMA-specific, not criticality arbitration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He, You &amp; Quek, 2024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Age-Based Scheduling for Mobile Edge Computing: A DRL Approach (IEEE Trans. Mob. Comput.)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Redefines AoI for event-driven processing; DRL-solved MDP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DRL handles realistic AoI dynamics; edge-computing focus, no wireless contention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 &amp; Kyung, 2024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DRL-Based AoI-Aware Low-Power Active Queue Management (IEEE IoT J.)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DRL active queue management (forward/flush/leave) bounding AoI and power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DRL for AoI-energy queue control on constrained hardware; no criticality arbitration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Li, Chen, Wu, Guan &amp; Shen, 2021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AoI-Aware Scheduling for Edge-Assisted Industrial Wireless Networks (IEEE Trans. Ind. Informat.)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AoI-aware D2D-assisted scheduling for industrial wireless delivery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Industrial-wireless analogue to this project's mixed-criticality setting; hand-tuned, not learned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Anand, de Veciana &amp; Shakkottai, 2020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Scheduling of URLLC and eMBB Traffic in 5G Wireless Networks (IEEE/ACM ToN)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gradient eMBB scheduler anticipates URLLC pre-emption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Hand-tuned two-tier priority analogue to this project's DQN; optimal only for modelled traffic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al., 2024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Reinforcement Learning: A Survey (IEEE Trans. Neural Netw. Learn. Syst.)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DRL algorithms incl. DQN, experience replay, target networks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the stabilisers adopted here; surveys general control, not real-time wireless allocation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Reifert, Roth &amp; Sezgin, 2023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Optimizing the AoI in Mixed-Critical Wireless Communication Networks (Proc. IEEE ICC)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Non-convex optimization with linear/exponential aging functions per criticality class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formalises mixed-criticality AoI via per-class aging; optimization-based, not learned, no hardware validation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Gong, Cui, Gu, Lyu, Hoang &amp; Niyato, 2023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DRL for AoI Minimization in IRS-Aided and Wireless-Powered Networks (IEEE Trans. Wireless Commun.)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Two-level hierarchical DRL: scheduling policy + power/beamforming control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structured/hierarchical DRL improves AoI sample efficiency; single-class network, no shielding layer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Zhao, Lu, Liu, Chang, Wang &amp; Hamalainen, 2024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DQN-Based AoI-Minimal Task Offloading for UAV-Aided Edge Computing (IEEE IoT J.)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DQN with Lyapunov-derived hard energy constraint wrapping the learned policy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prior work to this project's shielding layer; constraint is energy not per-node AoI ceiling, single-agent UAV setting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Zeng et al., 2025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AoI-Oriented Computation Offloading and Resource Allocation for End-Edge-Cloud Computing Systems (IEEE IoT J.)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task-offloading + resource-allocation optimization minimizing AoI and energy under deadline/capacity constraints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recent (2025) confirmation AoI-aware joint scheduling is still active; computing-offload focus, no wireless MAC contention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Amodu et al., 2024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DRL for AoI Minimization in UAV-Aided Data Collection for WSN and IoT: A Survey (IEEE Access)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DRL formulations (trajectory + scheduling) for AoI minimization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survey confirming DRL as the dominant AoI-scheduling approach; UAV-mobility focus, not fixed-topology contention arbitration</a:t>
                      </a:r>
                      <a:endParaRPr lang="en-US" sz="850" dirty="0"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70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Stage 11"/>
          <p:cNvSpPr/>
          <p:nvPr/>
        </p:nvSpPr>
        <p:spPr>
          <a:xfrm>
            <a:off x="640080" y="1330000"/>
            <a:ext cx="2430000" cy="15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Sensor Devices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high-priority, 1 medium,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low-priority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sends data + a beacon</a:t>
            </a:r>
            <a:endParaRPr lang="en-US" sz="1000" dirty="0"/>
          </a:p>
        </p:txBody>
      </p:sp>
      <p:sp>
        <p:nvSpPr>
          <p:cNvPr id="12" name="Arrow 12"/>
          <p:cNvSpPr/>
          <p:nvPr/>
        </p:nvSpPr>
        <p:spPr>
          <a:xfrm>
            <a:off x="3090080" y="1975000"/>
            <a:ext cx="290000" cy="260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1D2F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tage 13"/>
          <p:cNvSpPr/>
          <p:nvPr/>
        </p:nvSpPr>
        <p:spPr>
          <a:xfrm>
            <a:off x="3400080" y="1330000"/>
            <a:ext cx="2430000" cy="15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device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next, using 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 strategies being tested</a:t>
            </a:r>
            <a:endParaRPr lang="en-US" sz="1000" dirty="0"/>
          </a:p>
        </p:txBody>
      </p:sp>
      <p:sp>
        <p:nvSpPr>
          <p:cNvPr id="14" name="Arrow 14"/>
          <p:cNvSpPr/>
          <p:nvPr/>
        </p:nvSpPr>
        <p:spPr>
          <a:xfrm>
            <a:off x="5850080" y="1975000"/>
            <a:ext cx="290000" cy="260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1D2F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Stage 15"/>
          <p:cNvSpPr/>
          <p:nvPr/>
        </p:nvSpPr>
        <p:spPr>
          <a:xfrm>
            <a:off x="6160080" y="1330000"/>
            <a:ext cx="2430000" cy="15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Backstop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watching — overrides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if any device 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for too long</a:t>
            </a:r>
            <a:endParaRPr lang="en-US" sz="1000" dirty="0"/>
          </a:p>
        </p:txBody>
      </p:sp>
      <p:sp>
        <p:nvSpPr>
          <p:cNvPr id="16" name="Arrow 16"/>
          <p:cNvSpPr/>
          <p:nvPr/>
        </p:nvSpPr>
        <p:spPr>
          <a:xfrm>
            <a:off x="8610080" y="1975000"/>
            <a:ext cx="290000" cy="260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1D2F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Stage 17"/>
          <p:cNvSpPr/>
          <p:nvPr/>
        </p:nvSpPr>
        <p:spPr>
          <a:xfrm>
            <a:off x="8920080" y="1330000"/>
            <a:ext cx="2430000" cy="15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25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later analysis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double-checked</a:t>
            </a:r>
            <a:endParaRPr lang="en-US" sz="1000" dirty="0"/>
          </a:p>
        </p:txBody>
      </p:sp>
      <p:graphicFrame>
        <p:nvGraphicFramePr>
          <p:cNvPr id="18" name="NodeConfig"/>
          <p:cNvGraphicFramePr>
            <a:graphicFrameLocks noGrp="1"/>
          </p:cNvGraphicFramePr>
          <p:nvPr/>
        </p:nvGraphicFramePr>
        <p:xfrm>
          <a:off x="640080" y="3140000"/>
          <a:ext cx="1088136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1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it matters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wait before override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1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10x weight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seconds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2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10x weight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seconds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3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 weight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seconds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4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weight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 seconds</a:t>
                      </a:r>
                      <a:endParaRPr lang="en-US" sz="12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Notes"/>
          <p:cNvSpPr txBox="1"/>
          <p:nvPr/>
        </p:nvSpPr>
        <p:spPr>
          <a:xfrm>
            <a:off x="640080" y="4890000"/>
            <a:ext cx="10881360" cy="169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and devices communicate using the same message format the real hardware will use — so these results carry over to the physical prototype later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which strategy is running, the safety backstop guarantees no device is ever left waiting indefinitely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the simulation produces is independently re-checked by a second, separate calculation (details on Slide 10)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LeftBody"/>
          <p:cNvSpPr txBox="1"/>
          <p:nvPr/>
        </p:nvSpPr>
        <p:spPr>
          <a:xfrm>
            <a:off x="640080" y="1325880"/>
            <a:ext cx="630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50"/>
              </a:spcAft>
              <a:buSzPct val="100000"/>
              <a:buChar char="•"/>
            </a:pPr>
            <a:r>
              <a:rPr lang="en-US" sz="1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inventing numbers, the wireless-channel simulation is grounded in three real, publicly available datasets</a:t>
            </a:r>
            <a:endParaRPr lang="en-US" sz="1600" dirty="0"/>
          </a:p>
          <a:p>
            <a:pPr marL="455930" indent="-177800">
              <a:spcAft>
                <a:spcPts val="35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WiFi signal-strength dataset (Zenodo, 2022) — 7.4 million real signal readings collected over 2+ years across a university building — used to derive how signal strength fades with distance and how much it randomly fluctuates</a:t>
            </a:r>
            <a:endParaRPr lang="en-US" sz="1350" dirty="0"/>
          </a:p>
          <a:p>
            <a:pPr marL="455930" indent="-177800">
              <a:spcAft>
                <a:spcPts val="35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indoor localization signal dataset (IEEE Internet of Things Journal) — real signal readings from 3 different indoor rooms — used to cross-check the “chance a message gets through” curve</a:t>
            </a:r>
            <a:endParaRPr lang="en-US" sz="1350" dirty="0"/>
          </a:p>
          <a:p>
            <a:pPr marL="455930" indent="-177800">
              <a:spcAft>
                <a:spcPts val="35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IoT network traffic dataset (RT-IoT2022) — real traffic recordings from devices using the same messaging protocol as our sensors — used to ground the network delay and timing assumptions</a:t>
            </a:r>
            <a:endParaRPr lang="en-US" sz="1350" dirty="0"/>
          </a:p>
          <a:p>
            <a:pPr marL="177800" indent="-177800">
              <a:spcAft>
                <a:spcPts val="0"/>
              </a:spcAft>
              <a:buSzPct val="100000"/>
              <a:buChar char="•"/>
            </a:pPr>
            <a:r>
              <a:rPr lang="en-US" sz="16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7 parameters controlling the simulated wireless channel are backed by real-world measurement, not guesswork</a:t>
            </a:r>
            <a:endParaRPr lang="en-US" sz="1600" dirty="0"/>
          </a:p>
        </p:txBody>
      </p:sp>
      <p:graphicFrame>
        <p:nvGraphicFramePr>
          <p:cNvPr id="12" name="ParamTable"/>
          <p:cNvGraphicFramePr>
            <a:graphicFrameLocks noGrp="1"/>
          </p:cNvGraphicFramePr>
          <p:nvPr/>
        </p:nvGraphicFramePr>
        <p:xfrm>
          <a:off x="7260080" y="1325880"/>
          <a:ext cx="426136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used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in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fast signal fades with distance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real buildings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WiFi dataset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signal randomly fluctuates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dB of variation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WiFi dataset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“sticky” a good/bad signal patch is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carries to next moment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WiFi dataset (26 months)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strength for a 50/50 delivery chance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-82 dBm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signal datasets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sharply delivery chance changes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dB steepness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signal datasets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a bad patch starts / clears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/ 30% per slot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WiFi dataset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network delay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in real traffic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IoT traffic dataset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LeftBody"/>
          <p:cNvSpPr txBox="1"/>
          <p:nvPr/>
        </p:nvSpPr>
        <p:spPr>
          <a:xfrm>
            <a:off x="640080" y="1325880"/>
            <a:ext cx="630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6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rulebook that precisely defines “freshness,” message formats, and result logs — so the simulation, the analysis, and the real hardware (later) all agree on the same definitions</a:t>
            </a:r>
            <a:endParaRPr lang="en-US" sz="135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simulation of the 4-device network described on the previous slide, including the safety backstop</a:t>
            </a:r>
            <a:endParaRPr lang="en-US" sz="135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different decision-making strategies to compare, including the trained AI scheduler — from the simplest (take turns) to smarter ones that account for signal quality</a:t>
            </a:r>
            <a:endParaRPr lang="en-US" sz="1350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checklist of 37 tests that verifies every rule behaves correctly (see next slide)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“freshness” is measured</a:t>
            </a:r>
            <a:endParaRPr lang="en-US" sz="16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= how much time has passed since a device's last update actually arrived</a:t>
            </a:r>
            <a:endParaRPr lang="en-US" sz="135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parking meter: it resets close to zero the moment a device is heard from, then keeps climbing the longer it stays quiet</a:t>
            </a:r>
            <a:endParaRPr lang="en-US" sz="135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strategies differ only in how they decide whose “meter” to reset next</a:t>
            </a:r>
            <a:endParaRPr lang="en-US" sz="1350" dirty="0"/>
          </a:p>
        </p:txBody>
      </p:sp>
      <p:sp>
        <p:nvSpPr>
          <p:cNvPr id="12" name="ChartCard"/>
          <p:cNvSpPr/>
          <p:nvPr/>
        </p:nvSpPr>
        <p:spPr>
          <a:xfrm>
            <a:off x="7260080" y="1325880"/>
            <a:ext cx="4261360" cy="45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“freshness over time” looks like</a:t>
            </a:r>
            <a:endParaRPr lang="en-US" sz="1250" dirty="0"/>
          </a:p>
        </p:txBody>
      </p:sp>
      <p:sp>
        <p:nvSpPr>
          <p:cNvPr id="13" name="SafetyLine"/>
          <p:cNvSpPr/>
          <p:nvPr/>
        </p:nvSpPr>
        <p:spPr>
          <a:xfrm>
            <a:off x="7520080" y="2484880"/>
            <a:ext cx="3741360" cy="0"/>
          </a:xfrm>
          <a:prstGeom prst="line">
            <a:avLst/>
          </a:prstGeom>
          <a:noFill/>
          <a:ln w="19050">
            <a:solidFill>
              <a:srgbClr val="B5651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afetyLineLabel"/>
          <p:cNvSpPr txBox="1"/>
          <p:nvPr/>
        </p:nvSpPr>
        <p:spPr>
          <a:xfrm>
            <a:off x="9811440" y="2224880"/>
            <a:ext cx="145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limit</a:t>
            </a:r>
            <a:endParaRPr lang="en-US" sz="1000" dirty="0"/>
          </a:p>
        </p:txBody>
      </p:sp>
      <p:sp>
        <p:nvSpPr>
          <p:cNvPr id="15" name="Sawtooth"/>
          <p:cNvSpPr/>
          <p:nvPr/>
        </p:nvSpPr>
        <p:spPr>
          <a:xfrm>
            <a:off x="7520080" y="1945880"/>
            <a:ext cx="3741360" cy="2450000"/>
          </a:xfrm>
          <a:custGeom>
            <a:avLst/>
            <a:gdLst/>
            <a:ahLst/>
            <a:cxnLst/>
            <a:rect l="0" t="0" r="0" b="0"/>
            <a:pathLst>
              <a:path w="3741360" h="2450000">
                <a:moveTo>
                  <a:pt x="0" y="2303000"/>
                </a:moveTo>
                <a:lnTo>
                  <a:pt x="748272" y="833000"/>
                </a:lnTo>
                <a:lnTo>
                  <a:pt x="748272" y="2303000"/>
                </a:lnTo>
                <a:lnTo>
                  <a:pt x="1496544" y="833000"/>
                </a:lnTo>
                <a:lnTo>
                  <a:pt x="1496544" y="2303000"/>
                </a:lnTo>
                <a:lnTo>
                  <a:pt x="2244816" y="833000"/>
                </a:lnTo>
                <a:lnTo>
                  <a:pt x="2244816" y="2303000"/>
                </a:lnTo>
                <a:lnTo>
                  <a:pt x="3180156" y="539000"/>
                </a:lnTo>
                <a:lnTo>
                  <a:pt x="3180156" y="2303000"/>
                </a:lnTo>
                <a:lnTo>
                  <a:pt x="3741360" y="1347500"/>
                </a:lnTo>
              </a:path>
            </a:pathLst>
          </a:custGeom>
          <a:noFill/>
          <a:ln w="22225" cap="rnd">
            <a:solidFill>
              <a:srgbClr val="1D2F82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AxisY"/>
          <p:cNvSpPr txBox="1"/>
          <p:nvPr/>
        </p:nvSpPr>
        <p:spPr>
          <a:xfrm>
            <a:off x="7520080" y="1905880"/>
            <a:ext cx="2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stale ↑</a:t>
            </a:r>
            <a:endParaRPr lang="en-US" sz="1000" dirty="0"/>
          </a:p>
        </p:txBody>
      </p:sp>
      <p:sp>
        <p:nvSpPr>
          <p:cNvPr id="17" name="AxisX"/>
          <p:cNvSpPr txBox="1"/>
          <p:nvPr/>
        </p:nvSpPr>
        <p:spPr>
          <a:xfrm>
            <a:off x="10361440" y="4435880"/>
            <a:ext cx="9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000" dirty="0"/>
          </a:p>
        </p:txBody>
      </p:sp>
      <p:sp>
        <p:nvSpPr>
          <p:cNvPr id="18" name="BackstopNote"/>
          <p:cNvSpPr txBox="1"/>
          <p:nvPr/>
        </p:nvSpPr>
        <p:spPr>
          <a:xfrm>
            <a:off x="9577828" y="4715880"/>
            <a:ext cx="1683612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4th climb would have kept going — the safety backstop forces an early reset right at the limit</a:t>
            </a:r>
            <a:endParaRPr lang="en-US" sz="1000" dirty="0"/>
          </a:p>
        </p:txBody>
      </p:sp>
      <p:sp>
        <p:nvSpPr>
          <p:cNvPr id="19" name="NormalNote"/>
          <p:cNvSpPr txBox="1"/>
          <p:nvPr/>
        </p:nvSpPr>
        <p:spPr>
          <a:xfrm>
            <a:off x="7520080" y="4715880"/>
            <a:ext cx="2057748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rise = a device going quiet; each drop = a fresh update arriving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StatCard"/>
          <p:cNvSpPr/>
          <p:nvPr/>
        </p:nvSpPr>
        <p:spPr>
          <a:xfrm>
            <a:off x="640080" y="1450000"/>
            <a:ext cx="3400000" cy="210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4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37</a:t>
            </a:r>
            <a:endParaRPr lang="en-US" sz="44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passed</a:t>
            </a:r>
            <a:endParaRPr lang="en-US" sz="12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skipped, 0 failed)</a:t>
            </a:r>
            <a:endParaRPr lang="en-US" sz="1100" dirty="0"/>
          </a:p>
        </p:txBody>
      </p:sp>
      <p:graphicFrame>
        <p:nvGraphicFramePr>
          <p:cNvPr id="12" name="TestTable"/>
          <p:cNvGraphicFramePr>
            <a:graphicFrameLocks noGrp="1"/>
          </p:cNvGraphicFramePr>
          <p:nvPr/>
        </p:nvGraphicFramePr>
        <p:xfrm>
          <a:off x="4390080" y="1450000"/>
          <a:ext cx="7131360" cy="3076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actually verifies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format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device-to-hub message is built, sent, and read back correctly, down to the exact bytes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snapshot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set of numbers describing the network's current situation is calculated correctly every time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file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project's configuration can't silently break an experiment through a typo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rule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core freshness calculation is correct in every case — on time, late, or missing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logging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experiment's results are recorded in a consistent, analyzable format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record-keeping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run is stamped with enough detail to reproduce it later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cleanliness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Guarantees only one official freshness calculation exists anywhere in the project</a:t>
                      </a:r>
                      <a:endParaRPr lang="en-US" sz="110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Below"/>
          <p:cNvSpPr txBox="1"/>
          <p:nvPr/>
        </p:nvSpPr>
        <p:spPr>
          <a:xfrm>
            <a:off x="640080" y="4608094"/>
            <a:ext cx="10881360" cy="1300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milestone, none of these checks existed — the project's rules were written down but never automatically verified. Now every one of them runs on its own and passes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correctness milestone, not a “which strategy wins” result yet — it proves the foundation is solid before comparing strategies</a:t>
            </a:r>
            <a:endParaRPr lang="en-US" sz="1600" dirty="0"/>
          </a:p>
        </p:txBody>
      </p:sp>
      <p:sp>
        <p:nvSpPr>
          <p:cNvPr id="14" name="Caveat"/>
          <p:cNvSpPr txBox="1"/>
          <p:nvPr/>
        </p:nvSpPr>
        <p:spPr>
          <a:xfrm>
            <a:off x="640080" y="6075946"/>
            <a:ext cx="10881360" cy="565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VStage 11"/>
          <p:cNvSpPr/>
          <p:nvPr/>
        </p:nvSpPr>
        <p:spPr>
          <a:xfrm>
            <a:off x="640080" y="1400000"/>
            <a:ext cx="3300000" cy="14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Same format, checked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simulator's result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uses the exact layout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agreed on</a:t>
            </a:r>
            <a:endParaRPr lang="en-US" sz="1050" dirty="0"/>
          </a:p>
        </p:txBody>
      </p:sp>
      <p:sp>
        <p:nvSpPr>
          <p:cNvPr id="12" name="A1"/>
          <p:cNvSpPr/>
          <p:nvPr/>
        </p:nvSpPr>
        <p:spPr>
          <a:xfrm>
            <a:off x="3970080" y="1995000"/>
            <a:ext cx="320000" cy="260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1D2F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VStage 13"/>
          <p:cNvSpPr/>
          <p:nvPr/>
        </p:nvSpPr>
        <p:spPr>
          <a:xfrm>
            <a:off x="4320080" y="1400000"/>
            <a:ext cx="3300000" cy="14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Same answer, checked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program re-calculates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device's freshness by hand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confirms it matches exactly</a:t>
            </a:r>
            <a:endParaRPr lang="en-US" sz="1050" dirty="0"/>
          </a:p>
        </p:txBody>
      </p:sp>
      <p:sp>
        <p:nvSpPr>
          <p:cNvPr id="14" name="A2"/>
          <p:cNvSpPr/>
          <p:nvPr/>
        </p:nvSpPr>
        <p:spPr>
          <a:xfrm>
            <a:off x="7650080" y="1995000"/>
            <a:ext cx="320000" cy="260000"/>
          </a:xfrm>
          <a:prstGeom prst="rightArrow">
            <a:avLst>
              <a:gd name="adj1" fmla="val 60000"/>
              <a:gd name="adj2" fmla="val 60000"/>
            </a:avLst>
          </a:prstGeom>
          <a:solidFill>
            <a:srgbClr val="1D2F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VStage 15"/>
          <p:cNvSpPr/>
          <p:nvPr/>
        </p:nvSpPr>
        <p:spPr>
          <a:xfrm>
            <a:off x="8000080" y="1400000"/>
            <a:ext cx="3300000" cy="1450000"/>
          </a:xfrm>
          <a:prstGeom prst="roundRect">
            <a:avLst/>
          </a:prstGeom>
          <a:solidFill>
            <a:srgbClr val="EEF1FB"/>
          </a:solidFill>
          <a:ln w="9525">
            <a:solidFill>
              <a:srgbClr val="C6D0EE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Fingerprint stamped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tagged with 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code proving exactly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of the rules made it</a:t>
            </a:r>
            <a:endParaRPr lang="en-US" sz="1050" dirty="0"/>
          </a:p>
        </p:txBody>
      </p:sp>
      <p:sp>
        <p:nvSpPr>
          <p:cNvPr id="16" name="BridgeLabel"/>
          <p:cNvSpPr txBox="1"/>
          <p:nvPr/>
        </p:nvSpPr>
        <p:spPr>
          <a:xfrm>
            <a:off x="640080" y="3000000"/>
            <a:ext cx="10881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it proves the detailed network simulator and the separate analysis program agree on the math — so the numbers can be trusted</a:t>
            </a:r>
            <a:endParaRPr lang="en-US" sz="1150" dirty="0"/>
          </a:p>
        </p:txBody>
      </p:sp>
      <p:sp>
        <p:nvSpPr>
          <p:cNvPr id="17" name="PlannedFigs"/>
          <p:cNvSpPr txBox="1"/>
          <p:nvPr/>
        </p:nvSpPr>
        <p:spPr>
          <a:xfrm>
            <a:off x="640080" y="3650000"/>
            <a:ext cx="1088136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cross-validation is what makes the results on the next two slides trustworthy</a:t>
            </a:r>
            <a:endParaRPr lang="en-US" sz="1600" dirty="0"/>
          </a:p>
          <a:p>
            <a:pPr marL="45593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simulator's output is proven to agree with the frozen contracts, the freshness-over-time and head-to-head comparison shown next are numbers you can actually rely on — not just plausible-looking charts</a:t>
            </a:r>
            <a:endParaRPr lang="en-US" sz="1400" dirty="0"/>
          </a:p>
          <a:p>
            <a:pPr marL="455930" indent="-1778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come from the same 20-seed evaluation campaign, run once the checks on this and the previous slide had already passed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Strategy Comparison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11" name="Leader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60" y="1475880"/>
            <a:ext cx="5000000" cy="3000000"/>
          </a:xfrm>
          <a:prstGeom prst="rect">
            <a:avLst/>
          </a:prstGeom>
        </p:spPr>
      </p:pic>
      <p:pic>
        <p:nvPicPr>
          <p:cNvPr id="12" name="ShieldR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60" y="1475880"/>
            <a:ext cx="5000000" cy="3000000"/>
          </a:xfrm>
          <a:prstGeom prst="rect">
            <a:avLst/>
          </a:prstGeom>
        </p:spPr>
      </p:pic>
      <p:sp>
        <p:nvSpPr>
          <p:cNvPr id="13" name="Cap1"/>
          <p:cNvSpPr txBox="1"/>
          <p:nvPr/>
        </p:nvSpPr>
        <p:spPr>
          <a:xfrm>
            <a:off x="920760" y="4625880"/>
            <a:ext cx="500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— average freshness across 20 test runs per strategy.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Max-Weight and the trained AI scheduler are essentially tied for best; the simplest strategies fall far behind.</a:t>
            </a:r>
            <a:endParaRPr lang="en-US" sz="1200" dirty="0"/>
          </a:p>
        </p:txBody>
      </p:sp>
      <p:sp>
        <p:nvSpPr>
          <p:cNvPr id="14" name="Cap2"/>
          <p:cNvSpPr txBox="1"/>
          <p:nvPr/>
        </p:nvSpPr>
        <p:spPr>
          <a:xfrm>
            <a:off x="6240760" y="4625880"/>
            <a:ext cx="500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safety backstop had to step in and force a decision.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Max-Weight, the AI scheduler, and Channel-Aware Greedy never needed it at all.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Freshness Over Time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11" name="AoiTra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760" y="1425880"/>
            <a:ext cx="8400000" cy="4200000"/>
          </a:xfrm>
          <a:prstGeom prst="rect">
            <a:avLst/>
          </a:prstGeom>
        </p:spPr>
      </p:pic>
      <p:sp>
        <p:nvSpPr>
          <p:cNvPr id="12" name="Cap"/>
          <p:cNvSpPr txBox="1"/>
          <p:nvPr/>
        </p:nvSpPr>
        <p:spPr>
          <a:xfrm>
            <a:off x="640080" y="5825880"/>
            <a:ext cx="1088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Fixed-Priority repeatedly lets the low-priority device's freshness balloon past 6 seconds, while every other strategy — including the simplest ones — keeps it low and steady.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nsitivity Swee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DRL Robustness via Sensitivity Sweep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20" name="SweepBody"/>
          <p:cNvSpPr txBox="1"/>
          <p:nvPr/>
        </p:nvSpPr>
        <p:spPr>
          <a:xfrm>
            <a:off x="640080" y="1325880"/>
            <a:ext cx="660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700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baseline tests showed the DQN agent tying with the Max-Weight heuristic. We hypothesized this was because the default simulated environment was “too easy” (~95% packet delivery), leaving no room for the AI to optimize scheduling.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700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true performance boundary, we engineered a massive 108-cell Sensitivity Sweep running exactly 23,760 simulations.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Parameters</a:t>
            </a:r>
            <a:endParaRPr lang="en-US" sz="17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IoT nodes further away into the “steep” signal degradation zone.</a:t>
            </a:r>
            <a:endParaRPr lang="en-US" sz="14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Sensitivity (R₅₀):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Altering the signal threshold where packet drop-offs occur.</a:t>
            </a:r>
            <a:endParaRPr lang="en-US" sz="14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(Burst Loss):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heavy, dynamic Wi-Fi interference.</a:t>
            </a:r>
            <a:endParaRPr lang="en-US" sz="1400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Sparsity: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how the scheduler handles infrequent data generation.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700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108 scenarios tested, DQN tied Max-Weight in 68 scenarios (either because the channel was perfectly lossless, or completely dead). However, DQN significantly outperformed Max-Weight in 38 scenarios, proving that Deep Reinforcement Learning thrives in volatile, partial-packet-loss environments where traditional greedy heuristics fail.</a:t>
            </a:r>
            <a:endParaRPr lang="en-US" sz="1400" dirty="0"/>
          </a:p>
        </p:txBody>
      </p:sp>
      <p:sp>
        <p:nvSpPr>
          <p:cNvPr id="21" name="StatScenarios"/>
          <p:cNvSpPr/>
          <p:nvPr/>
        </p:nvSpPr>
        <p:spPr>
          <a:xfrm>
            <a:off x="7500000" y="1325880"/>
            <a:ext cx="2000000" cy="2300000"/>
          </a:xfrm>
          <a:prstGeom prst="roundRect">
            <a:avLst>
              <a:gd name="adj" fmla="val 8000"/>
            </a:avLst>
          </a:prstGeom>
          <a:solidFill>
            <a:srgbClr val="EAEEF9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3600" dirty="0"/>
          </a:p>
          <a:p>
            <a:pPr marL="0" indent="0" algn="ctr">
              <a:spcAft>
                <a:spcPts val="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in the sensitivity sweep</a:t>
            </a:r>
            <a:endParaRPr lang="en-US" sz="1400" dirty="0"/>
          </a:p>
        </p:txBody>
      </p:sp>
      <p:sp>
        <p:nvSpPr>
          <p:cNvPr id="22" name="StatSims"/>
          <p:cNvSpPr/>
          <p:nvPr/>
        </p:nvSpPr>
        <p:spPr>
          <a:xfrm>
            <a:off x="9650000" y="1325880"/>
            <a:ext cx="2000000" cy="2300000"/>
          </a:xfrm>
          <a:prstGeom prst="roundRect">
            <a:avLst>
              <a:gd name="adj" fmla="val 8000"/>
            </a:avLst>
          </a:prstGeom>
          <a:solidFill>
            <a:srgbClr val="EAEEF9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23,760</a:t>
            </a:r>
            <a:endParaRPr lang="en-US" sz="3600" dirty="0"/>
          </a:p>
          <a:p>
            <a:pPr marL="0" indent="0" algn="ctr">
              <a:spcAft>
                <a:spcPts val="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run</a:t>
            </a:r>
            <a:endParaRPr lang="en-US" sz="1400" dirty="0"/>
          </a:p>
        </p:txBody>
      </p:sp>
      <p:sp>
        <p:nvSpPr>
          <p:cNvPr id="23" name="StatTies"/>
          <p:cNvSpPr/>
          <p:nvPr/>
        </p:nvSpPr>
        <p:spPr>
          <a:xfrm>
            <a:off x="7500000" y="3775880"/>
            <a:ext cx="2000000" cy="2300000"/>
          </a:xfrm>
          <a:prstGeom prst="roundRect">
            <a:avLst>
              <a:gd name="adj" fmla="val 8000"/>
            </a:avLst>
          </a:prstGeom>
          <a:solidFill>
            <a:srgbClr val="EAEEF9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3600" dirty="0"/>
          </a:p>
          <a:p>
            <a:pPr marL="0" indent="0" algn="ctr">
              <a:spcAft>
                <a:spcPts val="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DQN ties Max-Weight</a:t>
            </a:r>
            <a:endParaRPr lang="en-US" sz="1400" dirty="0"/>
          </a:p>
        </p:txBody>
      </p:sp>
      <p:sp>
        <p:nvSpPr>
          <p:cNvPr id="24" name="StatWins"/>
          <p:cNvSpPr/>
          <p:nvPr/>
        </p:nvSpPr>
        <p:spPr>
          <a:xfrm>
            <a:off x="9650000" y="3775880"/>
            <a:ext cx="2000000" cy="2300000"/>
          </a:xfrm>
          <a:prstGeom prst="roundRect">
            <a:avLst>
              <a:gd name="adj" fmla="val 8000"/>
            </a:avLst>
          </a:prstGeom>
          <a:solidFill>
            <a:srgbClr val="EAEEF9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600" dirty="0"/>
          </a:p>
          <a:p>
            <a:pPr marL="0" indent="0" algn="ctr">
              <a:spcAft>
                <a:spcPts val="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DQN beats Max-Weight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nsitivity Heatma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Sweep: Heatmap Results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21" name="HeatmapText"/>
          <p:cNvSpPr txBox="1"/>
          <p:nvPr/>
        </p:nvSpPr>
        <p:spPr>
          <a:xfrm>
            <a:off x="6400000" y="1325880"/>
            <a:ext cx="517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Heatmap Parameters</a:t>
            </a:r>
            <a:endParaRPr lang="en-US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(Arrival Prob / Burst Loss): 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network load and interference. “Arrival” is how often sensors generate data. “Burst” represents the severity of unpredictable Wi-Fi interference spikes.</a:t>
            </a:r>
            <a:endParaRPr lang="en-US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(R₅₀ Threshold in dBm): 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hardware’s receiver quality. An R₅₀ of -90 dBm is an excellent receiver (holds signal well). An R₅₀ of -75 dBm is a poor/harsh receiver (drops packets easily even at moderate distances).</a:t>
            </a:r>
            <a:endParaRPr lang="en-US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Scale: 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White/Yellow indicates a statistical Tie (0% difference). Dark Green indicates the DQN significantly beat Max-Weight (up to 15%+ better Age of Information).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4560FA-806F-1E56-E5D8-77529086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90" y="1755786"/>
            <a:ext cx="6043110" cy="36258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98D39-2540-B515-A275-E8F73DBF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36E6EB4-8BE0-A2D4-C322-FD080BFB6AD9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Sweep: Heatmap Results</a:t>
            </a:r>
            <a:endParaRPr lang="en-US" sz="2800" dirty="0"/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46279B86-6D8E-BA60-2D3F-5C3822ACF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21" name="HeatmapText">
            <a:extLst>
              <a:ext uri="{FF2B5EF4-FFF2-40B4-BE49-F238E27FC236}">
                <a16:creationId xmlns:a16="http://schemas.microsoft.com/office/drawing/2014/main" id="{1FF5C639-8CE3-2346-5D3C-82982BA95507}"/>
              </a:ext>
            </a:extLst>
          </p:cNvPr>
          <p:cNvSpPr txBox="1"/>
          <p:nvPr/>
        </p:nvSpPr>
        <p:spPr>
          <a:xfrm>
            <a:off x="6400000" y="1325880"/>
            <a:ext cx="517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Distance Profile (5m – 18m) — The DQN ‘Sweet Spot’: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Surprisingly, this profile generated the vast majority of DQN’s victories (31 out of 38 wins). While the distances are shorter, tweaking the receiver sensitivity (R₅₀) and interference placed the network squarely in a state of volatile, partial packet loss (e.g., 50% to 80% delivery rates). This is mathematically the hardest environment to schedule. Max-Weight’s greedy logic fails here, but the DQN adapts, dynamically routing around the volatility.</a:t>
            </a:r>
            <a:endParaRPr lang="en-US" sz="1400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Distance Profile (30m – 50m) — Total Disconnection: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nodes are pushed to extreme distances (30–50m) and paired with harsh receivers (R₅₀ = -75 dBm), the signal drops so low that the nodes effectively disconnect from the network (near 0% delivery). Neither Max-Weight nor DQN can invent a signal, so they both fail equally, resulting in massive AoI spikes and a statistical tie (45 ties). DQN only pulls ahead in the 7 edge-cases where the signal is poor but not completely dead.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84976-E12B-47F4-0DF7-51A9630E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88" y="1767212"/>
            <a:ext cx="5965381" cy="357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32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11" name="LeftBody"/>
          <p:cNvSpPr txBox="1"/>
          <p:nvPr/>
        </p:nvSpPr>
        <p:spPr>
          <a:xfrm>
            <a:off x="640080" y="1325880"/>
            <a:ext cx="6300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solutions</a:t>
            </a:r>
            <a:endParaRPr lang="en-US" sz="16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simulator only runs on Linux, not Windows — solved by setting up a separate Linux environment for it</a:t>
            </a:r>
            <a:endParaRPr lang="en-US" sz="135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bug was silently breaking some of the safety checks before they ever ran — found it, fixed it, and added a test so it can never go unnoticed again</a:t>
            </a:r>
            <a:endParaRPr lang="en-US" sz="1350" dirty="0"/>
          </a:p>
          <a:p>
            <a:pPr marL="455930" indent="-177800">
              <a:spcAft>
                <a:spcPts val="35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automated way to verify the project's core rules were implemented correctly — built a 37-check safety net from scratch</a:t>
            </a:r>
            <a:endParaRPr lang="en-US" sz="1350" dirty="0"/>
          </a:p>
          <a:p>
            <a:pPr marL="455930" indent="-177800">
              <a:spcAft>
                <a:spcPts val="35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AI scheduler currently ties with the best hand-designed strategy (Max-Weight) rather than clearly beating it — reported honestly rather than overstated; more training/tuning is the next step</a:t>
            </a:r>
            <a:endParaRPr lang="en-US" sz="1350" dirty="0"/>
          </a:p>
          <a:p>
            <a:pPr marL="45593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device placements keep every signal comfortably strong, so the smartest strategies don't get to show their full advantage yet — next step is testing under harsher channel conditions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(25%)</a:t>
            </a:r>
            <a:endParaRPr lang="en-US" sz="160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timing and signal behaviour on the actual hardware, so the simulation matches real-world conditions</a:t>
            </a:r>
            <a:endParaRPr lang="en-US" sz="135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building the remaining simulation pieces in Python (this review covers the core scenario; a few more building blocks are still needed)</a:t>
            </a:r>
            <a:endParaRPr lang="en-US" sz="1350" dirty="0"/>
          </a:p>
          <a:p>
            <a:pPr marL="45593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and tune the AI decision-maker so it clearly beats the hand-designed strategies, not just ties with them</a:t>
            </a:r>
            <a:endParaRPr lang="en-US" sz="1350" dirty="0"/>
          </a:p>
        </p:txBody>
      </p:sp>
      <p:sp>
        <p:nvSpPr>
          <p:cNvPr id="12" name="TimelineHeader"/>
          <p:cNvSpPr txBox="1"/>
          <p:nvPr/>
        </p:nvSpPr>
        <p:spPr>
          <a:xfrm>
            <a:off x="7260080" y="1325880"/>
            <a:ext cx="426136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Review-III (28.10.2026)</a:t>
            </a:r>
            <a:endParaRPr lang="en-US" sz="1300" dirty="0"/>
          </a:p>
        </p:txBody>
      </p:sp>
      <p:graphicFrame>
        <p:nvGraphicFramePr>
          <p:cNvPr id="13" name="TimelineTable"/>
          <p:cNvGraphicFramePr>
            <a:graphicFrameLocks noGrp="1"/>
          </p:cNvGraphicFramePr>
          <p:nvPr/>
        </p:nvGraphicFramePr>
        <p:xfrm>
          <a:off x="7260080" y="1780000"/>
          <a:ext cx="426136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Sep – 06 Oct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real hardware timing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– 13 Oct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remaining simulation pieces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– 20 Oct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&amp; tune the AI scheduler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– 27 Oct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write-up &amp; rehearsal</a:t>
                      </a:r>
                      <a:endParaRPr lang="en-US" sz="1150" dirty="0"/>
                    </a:p>
                  </a:txBody>
                  <a:tcPr marR="45720" marT="27432" marB="27432" anchor="ctr">
                    <a:solidFill>
                      <a:srgbClr val="F5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imelineNote"/>
          <p:cNvSpPr txBox="1"/>
          <p:nvPr/>
        </p:nvSpPr>
        <p:spPr>
          <a:xfrm>
            <a:off x="7260080" y="4400000"/>
            <a:ext cx="426136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rules and the network simulator (this review) are complete, ahead of schedule.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R. D. Yates, Y. Sun, D. R. Brown, S. K. Kaul, E. Modiano, and S. Ulukus, “Age of Information: An Introduction and Survey,” IEEE J. Sel. Areas Commun., vol. 39, no. 5, pp. 1183–1210, May 2021.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K. Saurav and R. Vaze, “Online Energy Minimization Under a Peak Age of Information Constraint,” IEEE J. Sel. Areas Inf. Theory, vol. 4, pp. 579–590, 2023.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I. Kadota, A. Sinha, E. Uysal-Bıyıkoğlu, R. Singh, and E. Modiano, “Scheduling Policies for Minimizing Age of Information in Broadcast Wireless Networks,” IEEE/ACM Trans. Netw., vol. 26, no. 6, pp. 2637–2650, Dec. 2018.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E. T. Ceran, D. Gündüz, and A. György, “A Reinforcement Learning Approach to Age of Information in Multi-User Networks With HARQ,” IEEE J. Sel. Areas Commun., vol. 39, no. 5, pp. 1412–1426, May 2021.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C. Zhang, Y. Zou, Z. Zhang, D. Yu, J. T. Gómez, T. Lan, F. Dressler, and X. Cheng, “Distributed Age-of-Information Scheduling With NOMA via Deep Reinforcement Learning,” IEEE Trans. Mob. Comput., vol. 24, no. 1, pp. 30–44, Jan. 2025.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X. He, C. You, and T. Q. S. Quek, “Age-Based Scheduling for Mobile Edge Computing: A Deep Reinforcement Learning Approach,” IEEE Trans. Mob. Comput., vol. 23, no. 10, pp. 9881–9897, Oct. 2024.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T. Song and Y. Kyung, “Deep-Reinforcement-Learning-Based Age-of-Information-Aware Low-Power Active Queue Management for IoT Sensor Networks,” IEEE Internet Things J., vol. 11, no. 9, pp. 16700–16709, 2024.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M. Li, C. Chen, H. Wu, X. Guan, and X. Shen, “Age-of-Information Aware Scheduling for Edge-Assisted Industrial Wireless Networks,” IEEE Trans. Ind. Informat., vol. 17, no. 8, pp. 5562–5571, Aug. 2021.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A. Anand, G. de Veciana, and S. Shakkottai, “Joint Scheduling of URLLC and eMBB Traffic in 5G Wireless Networks,” IEEE/ACM Trans. Netw., vol. 28, no. 2, pp. 477–490, Apr. 2020.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X. Wang, S. Wang, X. Liang, D. Zhao, J. Huang, X. Xu, B. Dai, and Q. Miao, “Deep Reinforcement Learning: A Survey,” IEEE Trans. Neural Netw. Learn. Syst., vol. 35, no. 4, pp. 5064–5078, Apr. 2024.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R.-J. Reifert, S. Roth, and A. Sezgin, “Optimizing the Age of Information in Mixed-Critical Wireless Communication Networks,” in Proc. IEEE Int. Conf. Commun. (ICC), Rome, Italy, 2023, doi: 10.1109/ICC45041.2023.10279561.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S. Gong, L. Cui, B. Gu, B. Lyu, D. T. Hoang, and D. Niyato, “Hierarchical Deep Reinforcement Learning for Age-of-Information Minimization in IRS-Aided and Wireless-Powered Wireless Networks,” IEEE Trans. Wireless Commun., vol. 22, no. 11, pp. 8114–8127, Nov. 2023.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H. Zhao, G. Lu, Y. Liu, Z. Chang, L. Wang, and T. Hämäläinen, “Safe DQN-Based AoI-Minimal Task Offloading for UAV-Aided Edge Computing System,” IEEE Internet Things J., vol. 11, no. 19, pp. 32012–32024, Oct. 2024.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Y. Zeng, Y. Zeng, J. Chen, Y. Shen, L. Li, and P. Cong, “AoI-Oriented Computation Offloading and Resource Allocation for End-Edge-Cloud Computing Systems,” IEEE Internet Things J., vol. 12, no. 19, pp. 41118–41134, Oct. 2025.</a:t>
            </a:r>
            <a:endParaRPr lang="en-US" sz="900" dirty="0"/>
          </a:p>
          <a:p>
            <a:pPr marL="0" indent="0"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O. A. Amodu, C. Jarray, R. A. R. Mahmood, H. Althumali, U. A. Bukar, and R. Nordin, “Deep Reinforcement Learning for AoI Minimization in UAV-Aided Data Collection for WSN and IoT Applications: A Survey,” IEEE Access, vol. 12, pp. 108000–108040, Jul. 2024.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120000"/>
            <a:ext cx="1088136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4053</Words>
  <Application>Microsoft Office PowerPoint</Application>
  <PresentationFormat>Widescreen</PresentationFormat>
  <Paragraphs>350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Kanish Kannan</cp:lastModifiedBy>
  <cp:revision>6</cp:revision>
  <dcterms:created xsi:type="dcterms:W3CDTF">2026-08-27T09:57:11Z</dcterms:created>
  <dcterms:modified xsi:type="dcterms:W3CDTF">2026-09-30T07:22:20Z</dcterms:modified>
</cp:coreProperties>
</file>